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60e59964834c42" /><Relationship Type="http://schemas.openxmlformats.org/officeDocument/2006/relationships/extended-properties" Target="/docProps/app.xml" Id="R6dc2e6407cb34901" /><Relationship Type="http://schemas.openxmlformats.org/officeDocument/2006/relationships/officeDocument" Target="/ppt/presentation.xml" Id="R3d2ac6273f2a40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cde6a3c5744dec"/>
  </p:sldMasterIdLst>
  <p:notesMasterIdLst>
    <p:notesMasterId xmlns:r="http://schemas.openxmlformats.org/officeDocument/2006/relationships" r:id="Rda1c723428f84567"/>
  </p:notesMasterIdLst>
  <p:sldIdLst>
    <p:sldId xmlns:r="http://schemas.openxmlformats.org/officeDocument/2006/relationships" id="256" r:id="R685ec3d9056744db"/>
    <p:sldId xmlns:r="http://schemas.openxmlformats.org/officeDocument/2006/relationships" id="257" r:id="Rf4077c75ad0b4162"/>
    <p:sldId xmlns:r="http://schemas.openxmlformats.org/officeDocument/2006/relationships" id="258" r:id="R24d4ef8018fa4194"/>
    <p:sldId xmlns:r="http://schemas.openxmlformats.org/officeDocument/2006/relationships" id="259" r:id="R5020153b262847e3"/>
    <p:sldId xmlns:r="http://schemas.openxmlformats.org/officeDocument/2006/relationships" id="260" r:id="Rfb9dbedc0e654350"/>
    <p:sldId xmlns:r="http://schemas.openxmlformats.org/officeDocument/2006/relationships" id="261" r:id="Ra3be84967c6a46c6"/>
    <p:sldId xmlns:r="http://schemas.openxmlformats.org/officeDocument/2006/relationships" id="262" r:id="R8d81409342844f19"/>
    <p:sldId xmlns:r="http://schemas.openxmlformats.org/officeDocument/2006/relationships" id="263" r:id="R5f51587de7bb4464"/>
    <p:sldId xmlns:r="http://schemas.openxmlformats.org/officeDocument/2006/relationships" id="264" r:id="Rbd2a76ba090b41ef"/>
    <p:sldId xmlns:r="http://schemas.openxmlformats.org/officeDocument/2006/relationships" id="265" r:id="Rcf73184c44a840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42f57c3377499e" /><Relationship Type="http://schemas.openxmlformats.org/officeDocument/2006/relationships/slideMaster" Target="/ppt/slideMasters/slideMaster1.xml" Id="Rabcde6a3c5744dec" /><Relationship Type="http://schemas.openxmlformats.org/officeDocument/2006/relationships/notesMaster" Target="/ppt/notesMasters/notesMaster1.xml" Id="Rda1c723428f84567" /><Relationship Type="http://schemas.openxmlformats.org/officeDocument/2006/relationships/presProps" Target="/ppt/presProps.xml" Id="R958412da49eb45cd" /><Relationship Type="http://schemas.openxmlformats.org/officeDocument/2006/relationships/tableStyles" Target="/ppt/tableStyles.xml" Id="R372386838c404de8" /><Relationship Type="http://schemas.openxmlformats.org/officeDocument/2006/relationships/slide" Target="/ppt/slides/slide1.xml" Id="R685ec3d9056744db" /><Relationship Type="http://schemas.openxmlformats.org/officeDocument/2006/relationships/slide" Target="/ppt/slides/slide2.xml" Id="Rf4077c75ad0b4162" /><Relationship Type="http://schemas.openxmlformats.org/officeDocument/2006/relationships/slide" Target="/ppt/slides/slide3.xml" Id="R24d4ef8018fa4194" /><Relationship Type="http://schemas.openxmlformats.org/officeDocument/2006/relationships/slide" Target="/ppt/slides/slide4.xml" Id="R5020153b262847e3" /><Relationship Type="http://schemas.openxmlformats.org/officeDocument/2006/relationships/slide" Target="/ppt/slides/slide5.xml" Id="Rfb9dbedc0e654350" /><Relationship Type="http://schemas.openxmlformats.org/officeDocument/2006/relationships/slide" Target="/ppt/slides/slide6.xml" Id="Ra3be84967c6a46c6" /><Relationship Type="http://schemas.openxmlformats.org/officeDocument/2006/relationships/slide" Target="/ppt/slides/slide7.xml" Id="R8d81409342844f19" /><Relationship Type="http://schemas.openxmlformats.org/officeDocument/2006/relationships/slide" Target="/ppt/slides/slide8.xml" Id="R5f51587de7bb4464" /><Relationship Type="http://schemas.openxmlformats.org/officeDocument/2006/relationships/slide" Target="/ppt/slides/slide9.xml" Id="Rbd2a76ba090b41ef" /><Relationship Type="http://schemas.openxmlformats.org/officeDocument/2006/relationships/slide" Target="/ppt/slides/slide10.xml" Id="Rcf73184c44a840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c3fa44f37044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83e9e8cbb84bd0" /><Relationship Type="http://schemas.openxmlformats.org/officeDocument/2006/relationships/notesMaster" Target="/ppt/notesMasters/notesMaster1.xml" Id="R22483c7d93cf4d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359643f8584c3f" /><Relationship Type="http://schemas.openxmlformats.org/officeDocument/2006/relationships/notesMaster" Target="/ppt/notesMasters/notesMaster1.xml" Id="Rba09354c220a40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7547386b7d4d68" /><Relationship Type="http://schemas.openxmlformats.org/officeDocument/2006/relationships/notesMaster" Target="/ppt/notesMasters/notesMaster1.xml" Id="Rfedc2bf8797846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e6b34096b142c9" /><Relationship Type="http://schemas.openxmlformats.org/officeDocument/2006/relationships/notesMaster" Target="/ppt/notesMasters/notesMaster1.xml" Id="R7cde38fcfec34c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cd1a99422447b7" /><Relationship Type="http://schemas.openxmlformats.org/officeDocument/2006/relationships/notesMaster" Target="/ppt/notesMasters/notesMaster1.xml" Id="R7280a49d283b49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73d79546414f3f" /><Relationship Type="http://schemas.openxmlformats.org/officeDocument/2006/relationships/notesMaster" Target="/ppt/notesMasters/notesMaster1.xml" Id="R1c7f2893eade43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f3d2d9d55b4fa0" /><Relationship Type="http://schemas.openxmlformats.org/officeDocument/2006/relationships/notesMaster" Target="/ppt/notesMasters/notesMaster1.xml" Id="R81874272659940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c9eddef7ae4065" /><Relationship Type="http://schemas.openxmlformats.org/officeDocument/2006/relationships/notesMaster" Target="/ppt/notesMasters/notesMaster1.xml" Id="R37bea9683c874d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cfdc32f8284125" /><Relationship Type="http://schemas.openxmlformats.org/officeDocument/2006/relationships/notesMaster" Target="/ppt/notesMasters/notesMaster1.xml" Id="R5c9f2f1bc2d847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31e2a7dc944775" /><Relationship Type="http://schemas.openxmlformats.org/officeDocument/2006/relationships/notesMaster" Target="/ppt/notesMasters/notesMaster1.xml" Id="R749eec6b930044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proyecto como una solución de organización académica, no como una simple galería de archivos.</a:t>
            </a:r>
          </a:p>
          <a:p xmlns:a="http://schemas.openxmlformats.org/drawingml/2006/main">
            <a:r>
              <a:t>La idea central de la exposición: registrar, encontrar y revisar evidencias desde una misma experiencia.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 del curso: PROYECTO FINAL DEL CURSO HCI.pdf</a:t>
            </a:r>
          </a:p>
          <a:p xmlns:a="http://schemas.openxmlformats.org/drawingml/2006/main">
            <a:r>
              <a:t>- Repositorio del proyecto: https://github.com/devG3r4/HCI-PytFinal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el costo cotidiano de la dispersión: tiempo perdido y poca claridad al revisar.</a:t>
            </a:r>
          </a:p>
          <a:p xmlns:a="http://schemas.openxmlformats.org/drawingml/2006/main">
            <a:r>
              <a:t>Conectar el problema con el brief del curso: organizar y presentar evidencias de forma usable.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 del curso: PROYECTO FINAL DEL CURSO HCI.pdf</a:t>
            </a:r>
          </a:p>
          <a:p xmlns:a="http://schemas.openxmlformats.org/drawingml/2006/main">
            <a:r>
              <a:t>- Evidencia interna: evidencias/dcu/01-matriz-requisitos.md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Aclarar que la proto-persona es una hipótesis basada en el contexto académico, no una entrevista inventada.</a:t>
            </a:r>
          </a:p>
          <a:p xmlns:a="http://schemas.openxmlformats.org/drawingml/2006/main">
            <a:r>
              <a:t>La prueba con participantes reales debe confirmar o corregir estas necesidades.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Evidencia interna: evidencias/dcu/02-proto-persona.md</a:t>
            </a:r>
          </a:p>
          <a:p xmlns:a="http://schemas.openxmlformats.org/drawingml/2006/main">
            <a:r>
              <a:t>- Documento del curso: PROYECTO FINAL DEL CURSO HCI.pdf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la cadena sin presentar una lista aislada: cada etapa produce la siguiente.</a:t>
            </a:r>
          </a:p>
          <a:p xmlns:a="http://schemas.openxmlformats.org/drawingml/2006/main">
            <a:r>
              <a:t>La última etapa está preparada, pero requiere observación real del grupo.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Evidencia interna: evidencias/dcu/01-matriz-requisitos.md</a:t>
            </a:r>
          </a:p>
          <a:p xmlns:a="http://schemas.openxmlformats.org/drawingml/2006/main">
            <a:r>
              <a:t>- Evidencia interna: evidencias/dcu/03-arquitectura-informacion.md</a:t>
            </a:r>
          </a:p>
          <a:p xmlns:a="http://schemas.openxmlformats.org/drawingml/2006/main">
            <a:r>
              <a:t>- Evidencia interna: evidencias/dcu/04-evaluacion-heuristica.md</a:t>
            </a:r>
          </a:p>
          <a:p xmlns:a="http://schemas.openxmlformats.org/drawingml/2006/main">
            <a:r>
              <a:t>- Evidencia interna: evidencias/dcu/06-instrumento-prueba-usuarios.md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que la arquitectura no replica una carpeta genérica: responde a tres intenciones distintas.</a:t>
            </a:r>
          </a:p>
          <a:p xmlns:a="http://schemas.openxmlformats.org/drawingml/2006/main">
            <a:r>
              <a:t>La misma categoría aparece en filtros y evaluación para preservar consistencia.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Evidencia interna: evidencias/dcu/03-arquitectura-informacion.md</a:t>
            </a:r>
          </a:p>
          <a:p xmlns:a="http://schemas.openxmlformats.org/drawingml/2006/main">
            <a:r>
              <a:t>- Evidencia interna: evidencias/wireframes/README.md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las dos capturas para explicar la relación entre tema y tarea, no como una demostración de decoración.</a:t>
            </a:r>
          </a:p>
          <a:p xmlns:a="http://schemas.openxmlformats.org/drawingml/2006/main">
            <a:r>
              <a:t>Señalar la zona de carga, los filtros, el feedback y la tabla de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Capturas verificadas: evidencias/capturas/01-resumen.png y evidencias/capturas/05-tema-claro.png</a:t>
            </a:r>
          </a:p>
          <a:p xmlns:a="http://schemas.openxmlformats.org/drawingml/2006/main">
            <a:r>
              <a:t>- Código: index.html y styles.css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Demostrar un recorrido corto en vivo: registrar un laboratorio, filtrar y abrir Evaluación.</a:t>
            </a:r>
          </a:p>
          <a:p xmlns:a="http://schemas.openxmlformats.org/drawingml/2006/main">
            <a:r>
              <a:t>La función de nube es opcional y no bloquea el flujo principal.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Código: app.js</a:t>
            </a:r>
          </a:p>
          <a:p xmlns:a="http://schemas.openxmlformats.org/drawingml/2006/main">
            <a:r>
              <a:t>- Prueba: tests/ui-smoke.mjs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al menos dos correcciones con el patrón problema → decisión → beneficio.</a:t>
            </a:r>
          </a:p>
          <a:p xmlns:a="http://schemas.openxmlformats.org/drawingml/2006/main">
            <a:r>
              <a:t>No presentar la evaluación heurística como prueba estadística con usuarios.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Evidencia interna: evidencias/dcu/04-evaluacion-heuristica.md</a:t>
            </a:r>
          </a:p>
          <a:p xmlns:a="http://schemas.openxmlformats.org/drawingml/2006/main">
            <a:r>
              <a:t>- Evidencia interna: evidencias/dcu/05-recorrido-cognitivo.md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Distinguir claramente prueba automatizada de prueba de usabilidad.</a:t>
            </a:r>
          </a:p>
          <a:p xmlns:a="http://schemas.openxmlformats.org/drawingml/2006/main">
            <a:r>
              <a:t>Mostrar la hoja de observación y pedir que los resultados reales se agreguen antes de la entrega.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Prueba ejecutada: tests/ui-smoke.mjs</a:t>
            </a:r>
          </a:p>
          <a:p xmlns:a="http://schemas.openxmlformats.org/drawingml/2006/main">
            <a:r>
              <a:t>- Instrumento pendiente: evidencias/dcu/06-instrumento-prueba-usuarios.md</a:t>
            </a:r>
          </a:p>
          <a:p xmlns:a="http://schemas.openxmlformats.org/drawingml/2006/main">
            <a:r>
              <a:t>- Plantilla pendiente: evidencias/dcu/07-plantilla-resultados.md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retomando el problema inicial: la bitácora reduce dispersión y hace visible el avance.</a:t>
            </a:r>
          </a:p>
          <a:p xmlns:a="http://schemas.openxmlformats.org/drawingml/2006/main">
            <a:r>
              <a:t>Mencionar como siguiente paso la prueba con participantes y los resultados que deben incorporarse.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 del curso: PROYECTO FINAL DEL CURSO HCI.pdf</a:t>
            </a:r>
          </a:p>
          <a:p xmlns:a="http://schemas.openxmlformats.org/drawingml/2006/main">
            <a:r>
              <a:t>- Informe del proyecto: docs/Informe_Proyecto_Bitacora_HCI.docx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33dceeedbb47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ee6b2020544a88" /><Relationship Type="http://schemas.openxmlformats.org/officeDocument/2006/relationships/slideLayout" Target="/ppt/slideLayouts/slideLayout1.xml" Id="Rf40312b6e15140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0312b6e15140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0bea027e343f9" /><Relationship Type="http://schemas.openxmlformats.org/officeDocument/2006/relationships/notesSlide" Target="/ppt/notesSlides/notesSlide1.xml" Id="Re644231b7c9447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ccd1d782c45aa" /><Relationship Type="http://schemas.openxmlformats.org/officeDocument/2006/relationships/notesSlide" Target="/ppt/notesSlides/notesSlide2.xml" Id="R132db06cce9943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5d52a0d8948de" /><Relationship Type="http://schemas.openxmlformats.org/officeDocument/2006/relationships/notesSlide" Target="/ppt/notesSlides/notesSlide3.xml" Id="R41bf75e086384c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8892be21e474a" /><Relationship Type="http://schemas.openxmlformats.org/officeDocument/2006/relationships/notesSlide" Target="/ppt/notesSlides/notesSlide4.xml" Id="R0cda9f20c9fc4f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df109716d4dde" /><Relationship Type="http://schemas.openxmlformats.org/officeDocument/2006/relationships/notesSlide" Target="/ppt/notesSlides/notesSlide5.xml" Id="Re7f4a4410c5747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e0e5cb2974cf9" /><Relationship Type="http://schemas.openxmlformats.org/officeDocument/2006/relationships/image" Target="/ppt/media/image.png" Id="Ra1e4a938e6be4545" /><Relationship Type="http://schemas.openxmlformats.org/officeDocument/2006/relationships/image" Target="/ppt/media/image2.png" Id="R7d8e8e7f072a4b96" /><Relationship Type="http://schemas.openxmlformats.org/officeDocument/2006/relationships/notesSlide" Target="/ppt/notesSlides/notesSlide6.xml" Id="R47b090d1d7534f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3ceec78a1466f" /><Relationship Type="http://schemas.openxmlformats.org/officeDocument/2006/relationships/notesSlide" Target="/ppt/notesSlides/notesSlide7.xml" Id="R961f83e1f97548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e059dffb242b2" /><Relationship Type="http://schemas.openxmlformats.org/officeDocument/2006/relationships/notesSlide" Target="/ppt/notesSlides/notesSlide8.xml" Id="Rab616b7aa66046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8cb99f323491c" /><Relationship Type="http://schemas.openxmlformats.org/officeDocument/2006/relationships/notesSlide" Target="/ppt/notesSlides/notesSlide9.xml" Id="R7588c887d29f4aa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e16f5204c42f2" /><Relationship Type="http://schemas.openxmlformats.org/officeDocument/2006/relationships/notesSlide" Target="/ppt/notesSlides/notesSlide10.xml" Id="Rf0a5a7b09bb943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74728A-C7E4-4256-BCB2-CD3BB349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74B5"/>
                </a:solidFill>
              </a:defRPr>
            </a:pPr>
            <a:r>
              <a:rPr sz="1200" b="1">
                <a:solidFill>
                  <a:srgbClr val="2E74B5"/>
                </a:solidFill>
              </a:rPr>
              <a:t>PROYECTO FINAL · HCI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5F39F-ECE7-43F6-A94C-4135316D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0B2545"/>
                </a:solidFill>
              </a:defRPr>
            </a:pPr>
            <a:r>
              <a:rPr sz="4800" b="1">
                <a:solidFill>
                  <a:srgbClr val="0B2545"/>
                </a:solidFill>
              </a:rPr>
              <a:t>Bitácora Digital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5BFB0-9CD8-4926-B085-8B0AC393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170"/>
                </a:solidFill>
              </a:defRPr>
            </a:pPr>
            <a:r>
              <a:rPr sz="1875">
                <a:solidFill>
                  <a:srgbClr val="566170"/>
                </a:solidFill>
              </a:rPr>
              <a:t>Un portafolio para reunir, encontrar y revisar las evidencias del curso.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E2BED-9BCA-422A-99CA-DF113C5F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54292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1F7E2"/>
          </a:solidFill>
          <a:ln xmlns:a="http://schemas.openxmlformats.org/drawingml/2006/main" w="9525">
            <a:solidFill>
              <a:srgbClr val="D6E5A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D2188-1416-4BFC-912A-74A5A95F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767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2545"/>
                </a:solidFill>
              </a:defRPr>
            </a:pPr>
            <a:r>
              <a:rPr sz="1275" b="1">
                <a:solidFill>
                  <a:srgbClr val="0B2545"/>
                </a:solidFill>
              </a:rPr>
              <a:t>La interfaz convierte archivos dispersos en una bitácora que se puede entender y demostrar.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BC453E-8F58-4013-B102-61115E9E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371600"/>
            <a:ext cx="3143250" cy="4095750"/>
          </a:xfrm>
          <a:prstGeom xmlns:a="http://schemas.openxmlformats.org/drawingml/2006/main" prst="roundRect">
            <a:avLst>
              <a:gd name="adj" fmla="val 7879"/>
            </a:avLst>
          </a:prstGeom>
          <a:solidFill xmlns:a="http://schemas.openxmlformats.org/drawingml/2006/main">
            <a:srgbClr val="11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E9699-0696-4856-AACA-934666E2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38300"/>
            <a:ext cx="2667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4282D"/>
          </a:solidFill>
          <a:ln xmlns:a="http://schemas.openxmlformats.org/drawingml/2006/main" w="9525">
            <a:solidFill>
              <a:srgbClr val="33384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D671C-E565-49E8-8BA6-3B2770E2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716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Portafolio HCI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AF1EF-20FB-40CE-BFE2-06D9B94D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00300"/>
            <a:ext cx="2667000" cy="2076450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1A1D20"/>
          </a:solidFill>
          <a:ln xmlns:a="http://schemas.openxmlformats.org/drawingml/2006/main" w="9525">
            <a:solidFill>
              <a:srgbClr val="33384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8F3D23-7AB2-4682-91F4-032B1E81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Arrastra aquí una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 evidencia para subirla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C3312F-1E89-4433-A0CD-EE0705E9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00500"/>
            <a:ext cx="20574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F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778B9-A095-47A3-B33E-4F08CB2D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66170"/>
                </a:solidFill>
              </a:defRPr>
            </a:pPr>
            <a:r>
              <a:rPr sz="1050">
                <a:solidFill>
                  <a:srgbClr val="566170"/>
                </a:solidFill>
              </a:rPr>
              <a:t>Equipo de desarrollo · Julio 2026</a:t>
            </a:r>
          </a:p>
        </p:txBody>
      </p:sp>
    </p:spTree>
    <p:extLst>
      <p:ext uri="{BB962C8B-B14F-4D97-AF65-F5344CB8AC3E}">
        <p14:creationId xmlns:p14="http://schemas.microsoft.com/office/powerpoint/2010/main" val="5978206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2C61AA-B76C-4849-A3E1-22A5FAF1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170"/>
                </a:solidFill>
              </a:defRPr>
            </a:pPr>
            <a:r>
              <a:rPr sz="900" b="1">
                <a:solidFill>
                  <a:srgbClr val="566170"/>
                </a:solidFill>
              </a:rPr>
              <a:t>BITÁCORA DIGITAL · PROYECTO HCI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0A5713-2711-478E-BACE-498D6169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170"/>
                </a:solidFill>
              </a:defRPr>
            </a:pPr>
            <a:r>
              <a:rPr sz="900" b="1">
                <a:solidFill>
                  <a:srgbClr val="566170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23E90-66FB-4012-9356-99879ADB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E74B5"/>
                </a:solidFill>
              </a:defRPr>
            </a:pPr>
            <a:r>
              <a:rPr sz="825" b="1">
                <a:solidFill>
                  <a:srgbClr val="2E74B5"/>
                </a:solidFill>
              </a:rPr>
              <a:t>CONTEXTO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7F157C-FBD3-4257-A7D6-BB825AB7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334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Las evidencias están dispersas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597B5-A7FF-4CED-AD0B-8367D753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66170"/>
                </a:solidFill>
              </a:defRPr>
            </a:pPr>
            <a:r>
              <a:rPr sz="1500">
                <a:solidFill>
                  <a:srgbClr val="566170"/>
                </a:solidFill>
              </a:rPr>
              <a:t>El problema no es solo guardar archivos: es saber qué existe, dónde está y cómo mostrarlo.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53A993-AB34-48A7-95AB-1B60F2C9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0480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8AB14-EDF6-433A-A45B-173E1025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545D"/>
                </a:solidFill>
              </a:defRPr>
            </a:pPr>
            <a:r>
              <a:rPr sz="1050" b="1">
                <a:solidFill>
                  <a:srgbClr val="D9545D"/>
                </a:solidFill>
              </a:rPr>
              <a:t>ANTES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431DDA-8BFC-45F9-B9CB-8D143D58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Carpetas locales</a:t>
            </a:r>
          </a:p>
          <a:p xmlns:a="http://schemas.openxmlformats.org/drawingml/2006/main">
            <a:pPr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OneDrive</a:t>
            </a:r>
          </a:p>
          <a:p xmlns:a="http://schemas.openxmlformats.org/drawingml/2006/main">
            <a:pPr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Chats del grupo</a:t>
            </a:r>
          </a:p>
          <a:p xmlns:a="http://schemas.openxmlformats.org/drawingml/2006/main">
            <a:pPr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Nombres inconsistentes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41496F-81D5-4750-A074-590A6BD0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09950"/>
            <a:ext cx="13716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F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FC999C-C90F-48A1-83EA-02D47848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5242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organizar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C2A1F-60D7-490C-9E57-ABC956FB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42862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FEDA7C-006D-45BB-8B29-A3DBDEC0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194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DESPUÉS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DF6878-CEDB-4C3C-B222-C64EC120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95650"/>
            <a:ext cx="2952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2545"/>
                </a:solidFill>
              </a:defRPr>
            </a:pPr>
            <a:r>
              <a:rPr sz="1950" b="1">
                <a:solidFill>
                  <a:srgbClr val="0B2545"/>
                </a:solidFill>
              </a:rPr>
              <a:t>Resumen</a:t>
            </a:r>
          </a:p>
          <a:p xmlns:a="http://schemas.openxmlformats.org/drawingml/2006/main">
            <a:pPr>
              <a:defRPr sz="1950" b="1">
                <a:solidFill>
                  <a:srgbClr val="0B2545"/>
                </a:solidFill>
              </a:defRPr>
            </a:pPr>
            <a:r>
              <a:rPr sz="1950" b="1">
                <a:solidFill>
                  <a:srgbClr val="0B2545"/>
                </a:solidFill>
              </a:rPr>
              <a:t>Archivos por categoría</a:t>
            </a:r>
          </a:p>
          <a:p xmlns:a="http://schemas.openxmlformats.org/drawingml/2006/main">
            <a:pPr>
              <a:defRPr sz="1950" b="1">
                <a:solidFill>
                  <a:srgbClr val="0B2545"/>
                </a:solidFill>
              </a:defRPr>
            </a:pPr>
            <a:r>
              <a:rPr sz="1950" b="1">
                <a:solidFill>
                  <a:srgbClr val="0B2545"/>
                </a:solidFill>
              </a:rPr>
              <a:t>Vista de evaluación</a:t>
            </a:r>
          </a:p>
        </p:txBody>
      </p:sp>
    </p:spTree>
    <p:extLst>
      <p:ext uri="{BB962C8B-B14F-4D97-AF65-F5344CB8AC3E}">
        <p14:creationId xmlns:p14="http://schemas.microsoft.com/office/powerpoint/2010/main" val="9828016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DBDC7A-2CB6-470E-BDD9-C17A0B9F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170"/>
                </a:solidFill>
              </a:defRPr>
            </a:pPr>
            <a:r>
              <a:rPr sz="900" b="1">
                <a:solidFill>
                  <a:srgbClr val="566170"/>
                </a:solidFill>
              </a:rPr>
              <a:t>BITÁCORA DIGITAL · PROYECTO HCI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F8BF7-498D-4D6B-B087-5D900993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170"/>
                </a:solidFill>
              </a:defRPr>
            </a:pPr>
            <a:r>
              <a:rPr sz="900" b="1">
                <a:solidFill>
                  <a:srgbClr val="566170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3127C-A71F-4B21-9065-85C5F97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E74B5"/>
                </a:solidFill>
              </a:defRPr>
            </a:pPr>
            <a:r>
              <a:rPr sz="825" b="1">
                <a:solidFill>
                  <a:srgbClr val="2E74B5"/>
                </a:solidFill>
              </a:rPr>
              <a:t>USUARIO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ECF78-F90D-490D-ACD8-D1876B6D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334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El estudiante necesita recuperar el 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D4CC8-E079-440A-9C69-8086DB66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66170"/>
                </a:solidFill>
              </a:defRPr>
            </a:pPr>
            <a:r>
              <a:rPr sz="1500">
                <a:solidFill>
                  <a:srgbClr val="566170"/>
                </a:solidFill>
              </a:rPr>
              <a:t>Alex es una proto-persona: una hipótesis explícita que debemos validar con estudiantes reales.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5B433-21BB-47D9-9E15-F5BA2F4F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3333750" cy="2714625"/>
          </a:xfrm>
          <a:prstGeom xmlns:a="http://schemas.openxmlformats.org/drawingml/2006/main" prst="roundRect">
            <a:avLst>
              <a:gd name="adj" fmla="val 5614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D9A5F-A4F1-4AEE-B5D2-632418F9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80010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F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385115-323A-4D96-9A46-E6C3F9E8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5275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2545"/>
                </a:solidFill>
              </a:defRPr>
            </a:pPr>
            <a:r>
              <a:rPr sz="2550" b="1">
                <a:solidFill>
                  <a:srgbClr val="0B2545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5A20ED-91C4-420F-8EF2-6A8C6AEF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Alex · estudiante universitario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32B70C-AFF2-42AE-9832-EE8BE50F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9D1DC"/>
                </a:solidFill>
              </a:defRPr>
            </a:pPr>
            <a:r>
              <a:rPr sz="1200">
                <a:solidFill>
                  <a:srgbClr val="C9D1DC"/>
                </a:solidFill>
              </a:rPr>
              <a:t>Trabaja con entregas repartidas entre su computadora, la nube y el chat del grupo.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1F727D-D439-4036-85E4-0B868B71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57450"/>
            <a:ext cx="2857500" cy="2714625"/>
          </a:xfrm>
          <a:prstGeom xmlns:a="http://schemas.openxmlformats.org/drawingml/2006/main" prst="roundRect">
            <a:avLst>
              <a:gd name="adj" fmla="val 5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854DF9-626F-4D83-9227-0AA619A4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81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E74B5"/>
                </a:solidFill>
              </a:defRPr>
            </a:pPr>
            <a:r>
              <a:rPr sz="1275" b="1">
                <a:solidFill>
                  <a:srgbClr val="2E74B5"/>
                </a:solidFill>
              </a:rPr>
              <a:t>Necesita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859E4F-89BA-49C3-A847-56D8D969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B2545"/>
                </a:solidFill>
              </a:defRPr>
            </a:pPr>
            <a:r>
              <a:rPr sz="1500">
                <a:solidFill>
                  <a:srgbClr val="0B2545"/>
                </a:solidFill>
              </a:rPr>
              <a:t>• nombres claros</a:t>
            </a:r>
          </a:p>
          <a:p xmlns:a="http://schemas.openxmlformats.org/drawingml/2006/main">
            <a:pPr>
              <a:defRPr sz="1500">
                <a:solidFill>
                  <a:srgbClr val="0B2545"/>
                </a:solidFill>
              </a:defRPr>
            </a:pPr>
            <a:r>
              <a:rPr sz="1500">
                <a:solidFill>
                  <a:srgbClr val="0B2545"/>
                </a:solidFill>
              </a:rPr>
              <a:t>• categorías visibles</a:t>
            </a:r>
          </a:p>
          <a:p xmlns:a="http://schemas.openxmlformats.org/drawingml/2006/main">
            <a:pPr>
              <a:defRPr sz="1500">
                <a:solidFill>
                  <a:srgbClr val="0B2545"/>
                </a:solidFill>
              </a:defRPr>
            </a:pPr>
            <a:r>
              <a:rPr sz="1500">
                <a:solidFill>
                  <a:srgbClr val="0B2545"/>
                </a:solidFill>
              </a:rPr>
              <a:t>• búsqueda rápida</a:t>
            </a:r>
          </a:p>
          <a:p xmlns:a="http://schemas.openxmlformats.org/drawingml/2006/main">
            <a:pPr>
              <a:defRPr sz="1500">
                <a:solidFill>
                  <a:srgbClr val="0B2545"/>
                </a:solidFill>
              </a:defRPr>
            </a:pPr>
            <a:r>
              <a:rPr sz="1500">
                <a:solidFill>
                  <a:srgbClr val="0B2545"/>
                </a:solidFill>
              </a:rPr>
              <a:t>• feedback de guardado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AC0142-BBF8-4333-9A93-987C314C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57450"/>
            <a:ext cx="2857500" cy="2714625"/>
          </a:xfrm>
          <a:prstGeom xmlns:a="http://schemas.openxmlformats.org/drawingml/2006/main" prst="roundRect">
            <a:avLst>
              <a:gd name="adj" fmla="val 5614"/>
            </a:avLst>
          </a:prstGeom>
          <a:solidFill xmlns:a="http://schemas.openxmlformats.org/drawingml/2006/main">
            <a:srgbClr val="F1F7E2"/>
          </a:solidFill>
          <a:ln xmlns:a="http://schemas.openxmlformats.org/drawingml/2006/main" w="9525">
            <a:solidFill>
              <a:srgbClr val="D6E5A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1B5EAF-1CAD-4FA4-8C1D-677F1D98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81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E74B5"/>
                </a:solidFill>
              </a:defRPr>
            </a:pPr>
            <a:r>
              <a:rPr sz="1275" b="1">
                <a:solidFill>
                  <a:srgbClr val="2E74B5"/>
                </a:solidFill>
              </a:rPr>
              <a:t>Pregunta de diseño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D76972-5D5C-4668-8315-1460566E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57550"/>
            <a:ext cx="2095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¿Puede registrar y volver a encontrar una evidencia sin aprender una estructura complicada?</a:t>
            </a:r>
          </a:p>
        </p:txBody>
      </p:sp>
    </p:spTree>
    <p:extLst>
      <p:ext uri="{BB962C8B-B14F-4D97-AF65-F5344CB8AC3E}">
        <p14:creationId xmlns:p14="http://schemas.microsoft.com/office/powerpoint/2010/main" val="6916803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1D6259-0571-421B-82C4-316D22C2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170"/>
                </a:solidFill>
              </a:defRPr>
            </a:pPr>
            <a:r>
              <a:rPr sz="900" b="1">
                <a:solidFill>
                  <a:srgbClr val="566170"/>
                </a:solidFill>
              </a:rPr>
              <a:t>BITÁCORA DIGITAL · PROYECTO HCI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BE7308-7736-412B-A259-3E2A72BE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170"/>
                </a:solidFill>
              </a:defRPr>
            </a:pPr>
            <a:r>
              <a:rPr sz="900" b="1">
                <a:solidFill>
                  <a:srgbClr val="566170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8DCED-0AB5-4014-B5DB-0630A83C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E74B5"/>
                </a:solidFill>
              </a:defRPr>
            </a:pPr>
            <a:r>
              <a:rPr sz="825" b="1">
                <a:solidFill>
                  <a:srgbClr val="2E74B5"/>
                </a:solidFill>
              </a:rPr>
              <a:t>PROCESO DCU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1AA827-855B-41FE-8612-4FB513CF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334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Cada decisión responde a una necesidad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4B357-DB27-40B3-8919-5B7D38C2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66170"/>
                </a:solidFill>
              </a:defRPr>
            </a:pPr>
            <a:r>
              <a:rPr sz="1500">
                <a:solidFill>
                  <a:srgbClr val="566170"/>
                </a:solidFill>
              </a:rPr>
              <a:t>El proceso combina trazabilidad, revisión experta y una prueba con usuarios que el grupo debe completar.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90A76-89AA-4C74-8814-E87A76E0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0375"/>
            <a:ext cx="17907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3689A-6A08-47B4-AD04-9BA246EE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66170"/>
                </a:solidFill>
              </a:defRPr>
            </a:pPr>
            <a:r>
              <a:rPr sz="1125" b="1">
                <a:solidFill>
                  <a:srgbClr val="566170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8B22AB-543E-4A7F-B9D8-21AC64A5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Brief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EE50E8-E087-4C73-9D26-56FD8302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66170"/>
                </a:solidFill>
              </a:defRPr>
            </a:pPr>
            <a:r>
              <a:rPr sz="1050">
                <a:solidFill>
                  <a:srgbClr val="566170"/>
                </a:solidFill>
              </a:rPr>
              <a:t>Requisitos del curso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08DCEA-3594-40D7-820A-564187F8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4807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EABD6A-CC10-4396-8462-9519444E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00375"/>
            <a:ext cx="17907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477F0A-1AE5-4FFA-ABE1-F041842D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813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66170"/>
                </a:solidFill>
              </a:defRPr>
            </a:pPr>
            <a:r>
              <a:rPr sz="1125" b="1">
                <a:solidFill>
                  <a:srgbClr val="566170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3A4E39-7EBF-4EED-890D-54B77D5B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24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Hipótesis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120399-34DB-4DF2-B20E-C220015F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576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66170"/>
                </a:solidFill>
              </a:defRPr>
            </a:pPr>
            <a:r>
              <a:rPr sz="1050">
                <a:solidFill>
                  <a:srgbClr val="566170"/>
                </a:solidFill>
              </a:rPr>
              <a:t>Proto-persona y necesidades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7ED262-C177-490F-834A-10F40B5C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64807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C0E9F3-AF76-4C1B-B40A-4123A5CE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00375"/>
            <a:ext cx="17907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15DBDA-7220-4BFD-8340-41F706F1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813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66170"/>
                </a:solidFill>
              </a:defRPr>
            </a:pPr>
            <a:r>
              <a:rPr sz="1125" b="1">
                <a:solidFill>
                  <a:srgbClr val="566170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B33753-E235-4C4E-A01D-24E5914F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24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Arquitectura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BF3651-EA57-492B-837C-496864DC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8576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66170"/>
                </a:solidFill>
              </a:defRPr>
            </a:pPr>
            <a:r>
              <a:rPr sz="1050">
                <a:solidFill>
                  <a:srgbClr val="566170"/>
                </a:solidFill>
              </a:rPr>
              <a:t>Resumen · archivos · evaluación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348310-6CCB-4E8F-8A0F-8FB03CAD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4807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D35EAE-BBBC-4583-829C-1BD9275A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00375"/>
            <a:ext cx="17907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F8F5F3-2DF4-47F8-A949-D1C1BA9D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813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66170"/>
                </a:solidFill>
              </a:defRPr>
            </a:pPr>
            <a:r>
              <a:rPr sz="1125" b="1">
                <a:solidFill>
                  <a:srgbClr val="566170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C5A644-8304-440B-9976-33B14B04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24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Revisión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B12B83-8DFF-4BFF-A317-5C0CDD00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576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66170"/>
                </a:solidFill>
              </a:defRPr>
            </a:pPr>
            <a:r>
              <a:rPr sz="1050">
                <a:solidFill>
                  <a:srgbClr val="566170"/>
                </a:solidFill>
              </a:rPr>
              <a:t>Heurísticas y recorrido cognitivo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E707D4-F2C3-4864-9E2A-58DF9E89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4807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E4915E-C30B-482A-A9D2-45615A80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00375"/>
            <a:ext cx="17907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1F7E2"/>
          </a:solidFill>
          <a:ln xmlns:a="http://schemas.openxmlformats.org/drawingml/2006/main" w="9525">
            <a:solidFill>
              <a:srgbClr val="D6E5A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B3DE04-A8F8-453A-8635-DB285005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813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E74B5"/>
                </a:solidFill>
              </a:defRPr>
            </a:pPr>
            <a:r>
              <a:rPr sz="1125" b="1">
                <a:solidFill>
                  <a:srgbClr val="2E74B5"/>
                </a:solidFill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CBD4BE-DF56-4579-9943-5BF868A9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524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Validación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6D18EA-24EA-4AF2-AAD0-26C78824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8576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66170"/>
                </a:solidFill>
              </a:defRPr>
            </a:pPr>
            <a:r>
              <a:rPr sz="1050">
                <a:solidFill>
                  <a:srgbClr val="566170"/>
                </a:solidFill>
              </a:rPr>
              <a:t>Prueba con participantes reales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F2283C-E0A4-4BD9-9579-0E81909C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006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66170"/>
                </a:solidFill>
              </a:defRPr>
            </a:pPr>
            <a:r>
              <a:rPr sz="1125">
                <a:solidFill>
                  <a:srgbClr val="566170"/>
                </a:solidFill>
              </a:rPr>
              <a:t>Artefactos: matriz · wireframes · evaluación heurística · recorrido cognitivo · instrumento de prueba</a:t>
            </a:r>
          </a:p>
        </p:txBody>
      </p:sp>
    </p:spTree>
    <p:extLst>
      <p:ext uri="{BB962C8B-B14F-4D97-AF65-F5344CB8AC3E}">
        <p14:creationId xmlns:p14="http://schemas.microsoft.com/office/powerpoint/2010/main" val="8000518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6265B3-E818-4B57-A395-4033A166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170"/>
                </a:solidFill>
              </a:defRPr>
            </a:pPr>
            <a:r>
              <a:rPr sz="900" b="1">
                <a:solidFill>
                  <a:srgbClr val="566170"/>
                </a:solidFill>
              </a:rPr>
              <a:t>BITÁCORA DIGITAL · PROYECTO HCI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BCE45-B9CB-47B4-A8C9-450A9027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170"/>
                </a:solidFill>
              </a:defRPr>
            </a:pPr>
            <a:r>
              <a:rPr sz="900" b="1">
                <a:solidFill>
                  <a:srgbClr val="566170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EA9CC-7103-4EFD-904C-6CCD5946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E74B5"/>
                </a:solidFill>
              </a:defRPr>
            </a:pPr>
            <a:r>
              <a:rPr sz="825" b="1">
                <a:solidFill>
                  <a:srgbClr val="2E74B5"/>
                </a:solidFill>
              </a:rPr>
              <a:t>ARQUITECTURA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554BCF-A1A1-4E8F-B55F-0AF23062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334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La navegación sigue el trabajo del estudiante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8BF329-301C-4540-A67A-405FCF09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66170"/>
                </a:solidFill>
              </a:defRPr>
            </a:pPr>
            <a:r>
              <a:rPr sz="1500">
                <a:solidFill>
                  <a:srgbClr val="566170"/>
                </a:solidFill>
              </a:rPr>
              <a:t>Primero iniciar, después encontrar y por último revisar.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FEDB37-8949-410A-8820-3DEF8FB1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4765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B948B4-9C89-49C4-B27D-14ED3962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FF43"/>
                </a:solidFill>
              </a:defRPr>
            </a:pPr>
            <a:r>
              <a:rPr sz="1050" b="1">
                <a:solidFill>
                  <a:srgbClr val="D9FF43"/>
                </a:solidFill>
              </a:rPr>
              <a:t>RESUMEN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3DA15-939A-41E5-BA4E-AA0FCE61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¿Por dónde</a:t>
            </a:r>
          </a:p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empiezo?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C856E-A269-41EF-87D1-E55E1D77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1750"/>
            <a:ext cx="24765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9C5390-A595-4C57-A77E-0952A55B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7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ARCHIVOS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50E7BA-DD98-474A-8C56-24FE9EC9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35280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2545"/>
                </a:solidFill>
              </a:defRPr>
            </a:pPr>
            <a:r>
              <a:rPr sz="2175" b="1">
                <a:solidFill>
                  <a:srgbClr val="0B2545"/>
                </a:solidFill>
              </a:rPr>
              <a:t>¿Dónde está</a:t>
            </a:r>
          </a:p>
          <a:p xmlns:a="http://schemas.openxmlformats.org/drawingml/2006/main">
            <a:pPr>
              <a:defRPr sz="2175" b="1">
                <a:solidFill>
                  <a:srgbClr val="0B2545"/>
                </a:solidFill>
              </a:defRPr>
            </a:pPr>
            <a:r>
              <a:rPr sz="2175" b="1">
                <a:solidFill>
                  <a:srgbClr val="0B2545"/>
                </a:solidFill>
              </a:rPr>
              <a:t>y qué hago?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6DF2A6-0470-445B-8E8B-0DBD730B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71750"/>
            <a:ext cx="24765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1F7E2"/>
          </a:solidFill>
          <a:ln xmlns:a="http://schemas.openxmlformats.org/drawingml/2006/main" w="9525">
            <a:solidFill>
              <a:srgbClr val="D6E5A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EF1141-7DB3-4731-9D17-5DAD6272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57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EVALUACIÓN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A48767-2B13-407D-899B-F7E8F366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5280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2545"/>
                </a:solidFill>
              </a:defRPr>
            </a:pPr>
            <a:r>
              <a:rPr sz="2175" b="1">
                <a:solidFill>
                  <a:srgbClr val="0B2545"/>
                </a:solidFill>
              </a:rPr>
              <a:t>¿Qué debo</a:t>
            </a:r>
          </a:p>
          <a:p xmlns:a="http://schemas.openxmlformats.org/drawingml/2006/main">
            <a:pPr>
              <a:defRPr sz="2175" b="1">
                <a:solidFill>
                  <a:srgbClr val="0B2545"/>
                </a:solidFill>
              </a:defRPr>
            </a:pPr>
            <a:r>
              <a:rPr sz="2175" b="1">
                <a:solidFill>
                  <a:srgbClr val="0B2545"/>
                </a:solidFill>
              </a:rPr>
              <a:t>revisar?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514D34-6D71-448A-AAF8-9E06270F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81400"/>
            <a:ext cx="140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0EDCED-7011-448E-B459-BD42A9B0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81400"/>
            <a:ext cx="140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6921DF-AF23-4B4B-AD68-DD955A4F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2197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Categorías compartidas: Talleres · Laboratorios · Parciales · Proyectos</a:t>
            </a:r>
          </a:p>
        </p:txBody>
      </p:sp>
    </p:spTree>
    <p:extLst>
      <p:ext uri="{BB962C8B-B14F-4D97-AF65-F5344CB8AC3E}">
        <p14:creationId xmlns:p14="http://schemas.microsoft.com/office/powerpoint/2010/main" val="9693663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72BBA0-88AE-4310-9D2A-96C51FE4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170"/>
                </a:solidFill>
              </a:defRPr>
            </a:pPr>
            <a:r>
              <a:rPr sz="900" b="1">
                <a:solidFill>
                  <a:srgbClr val="566170"/>
                </a:solidFill>
              </a:rPr>
              <a:t>BITÁCORA DIGITAL · PROYECTO HCI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041C9F-4E83-4A54-968C-321C9B3F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170"/>
                </a:solidFill>
              </a:defRPr>
            </a:pPr>
            <a:r>
              <a:rPr sz="900" b="1">
                <a:solidFill>
                  <a:srgbClr val="566170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ACB9F5-9BF1-47FC-818C-95218155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E74B5"/>
                </a:solidFill>
              </a:defRPr>
            </a:pPr>
            <a:r>
              <a:rPr sz="825" b="1">
                <a:solidFill>
                  <a:srgbClr val="2E74B5"/>
                </a:solidFill>
              </a:rPr>
              <a:t>INTERFAZ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D2478-F3CC-4E6D-8532-E4EA4956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334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La interfaz hace visible cada acción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4A2DEC-659A-485A-B37D-B2CE4B06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66170"/>
                </a:solidFill>
              </a:defRPr>
            </a:pPr>
            <a:r>
              <a:rPr sz="1500">
                <a:solidFill>
                  <a:srgbClr val="566170"/>
                </a:solidFill>
              </a:rPr>
              <a:t>Tema oscuro para trabajar; tema claro para revisar en formato de lista.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e4a938e6be4545"/>
          <a:srcRect xmlns:a="http://schemas.openxmlformats.org/drawingml/2006/main" l="218" t="0" r="2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495550"/>
            <a:ext cx="5219700" cy="3276600"/>
          </a:xfrm>
          <a:prstGeom xmlns:a="http://schemas.openxmlformats.org/drawingml/2006/main" prst="roundRect">
            <a:avLst>
              <a:gd name="adj" fmla="val 3488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8e8e7f072a4b96"/>
          <a:srcRect xmlns:a="http://schemas.openxmlformats.org/drawingml/2006/main" l="218" t="0" r="2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550" y="2495550"/>
            <a:ext cx="5219700" cy="3276600"/>
          </a:xfrm>
          <a:prstGeom xmlns:a="http://schemas.openxmlformats.org/drawingml/2006/main" prst="roundRect">
            <a:avLst>
              <a:gd name="adj" fmla="val 348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078310-BC7E-4FAB-9B93-926FB0DF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521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545"/>
                </a:solidFill>
              </a:defRPr>
            </a:pPr>
            <a:r>
              <a:rPr sz="1200" b="1">
                <a:solidFill>
                  <a:srgbClr val="0B2545"/>
                </a:solidFill>
              </a:rPr>
              <a:t>Tema oscuro · iniciar y registrar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4E3491-CEE6-42F6-BA3F-69D6D82E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1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545"/>
                </a:solidFill>
              </a:defRPr>
            </a:pPr>
            <a:r>
              <a:rPr sz="1200" b="1">
                <a:solidFill>
                  <a:srgbClr val="0B2545"/>
                </a:solidFill>
              </a:rPr>
              <a:t>Tema claro · revisar y comparar</a:t>
            </a:r>
          </a:p>
        </p:txBody>
      </p:sp>
    </p:spTree>
    <p:extLst>
      <p:ext uri="{BB962C8B-B14F-4D97-AF65-F5344CB8AC3E}">
        <p14:creationId xmlns:p14="http://schemas.microsoft.com/office/powerpoint/2010/main" val="7458763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ACE633-D560-4D92-A09B-A3588E76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170"/>
                </a:solidFill>
              </a:defRPr>
            </a:pPr>
            <a:r>
              <a:rPr sz="900" b="1">
                <a:solidFill>
                  <a:srgbClr val="566170"/>
                </a:solidFill>
              </a:rPr>
              <a:t>BITÁCORA DIGITAL · PROYECTO HCI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B654A-FF33-4C95-88E8-0EBF8BB8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170"/>
                </a:solidFill>
              </a:defRPr>
            </a:pPr>
            <a:r>
              <a:rPr sz="900" b="1">
                <a:solidFill>
                  <a:srgbClr val="566170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9A58BD-DA84-422C-8519-B7769373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E74B5"/>
                </a:solidFill>
              </a:defRPr>
            </a:pPr>
            <a:r>
              <a:rPr sz="825" b="1">
                <a:solidFill>
                  <a:srgbClr val="2E74B5"/>
                </a:solidFill>
              </a:rPr>
              <a:t>FUNCIONALIDAD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56359-0880-49D0-848A-C8D00E78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334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El prototipo cubre el ciclo de una evidencia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C984D-6950-40BC-9EE6-A6650261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66170"/>
                </a:solidFill>
              </a:defRPr>
            </a:pPr>
            <a:r>
              <a:rPr sz="1500">
                <a:solidFill>
                  <a:srgbClr val="566170"/>
                </a:solidFill>
              </a:rPr>
              <a:t>Registrar → organizar → encontrar → revisar.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F89CD-A941-4199-B9D0-CA58A451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3622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2F3BD-01C8-48A3-AA1E-3E7C05DB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362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F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C33C2E-7458-43FE-AA81-CA0549C1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2545"/>
                </a:solidFill>
              </a:defRPr>
            </a:pPr>
            <a:r>
              <a:rPr sz="1875" b="1">
                <a:solidFill>
                  <a:srgbClr val="0B2545"/>
                </a:solidFill>
              </a:rPr>
              <a:t>Registrar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091D02-60F9-4B22-85B0-66C717F4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66170"/>
                </a:solidFill>
              </a:defRPr>
            </a:pPr>
            <a:r>
              <a:rPr sz="1200">
                <a:solidFill>
                  <a:srgbClr val="566170"/>
                </a:solidFill>
              </a:rPr>
              <a:t>Título, descripción, categoría y adjunto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7D47EA-497A-4DFD-B259-83EDA011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86050"/>
            <a:ext cx="23622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B0AA94-E815-423A-9796-EB6ADB2D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86050"/>
            <a:ext cx="2362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57E6A8-F098-4A88-B5A4-57EA295A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861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2545"/>
                </a:solidFill>
              </a:defRPr>
            </a:pPr>
            <a:r>
              <a:rPr sz="1875" b="1">
                <a:solidFill>
                  <a:srgbClr val="0B2545"/>
                </a:solidFill>
              </a:rPr>
              <a:t>Organizar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D48373-2345-4638-95EB-B5F23EB0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623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66170"/>
                </a:solidFill>
              </a:defRPr>
            </a:pPr>
            <a:r>
              <a:rPr sz="1200">
                <a:solidFill>
                  <a:srgbClr val="566170"/>
                </a:solidFill>
              </a:rPr>
              <a:t>Filtros por tipo y movimiento entre categorías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C31C4B-813B-4B69-B641-A196852B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86050"/>
            <a:ext cx="23622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E1878B-C43C-49C5-8F9C-38B4DD13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86050"/>
            <a:ext cx="2362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8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4D57D4-41F1-482E-B2AE-0BF7EB08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861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2545"/>
                </a:solidFill>
              </a:defRPr>
            </a:pPr>
            <a:r>
              <a:rPr sz="1875" b="1">
                <a:solidFill>
                  <a:srgbClr val="0B2545"/>
                </a:solidFill>
              </a:rPr>
              <a:t>Encontrar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1BEFD1-40E4-4ACF-A09C-00E5E5CA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623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66170"/>
                </a:solidFill>
              </a:defRPr>
            </a:pPr>
            <a:r>
              <a:rPr sz="1200">
                <a:solidFill>
                  <a:srgbClr val="566170"/>
                </a:solidFill>
              </a:rPr>
              <a:t>Búsqueda global y acceso rápido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BD7BED-668F-468A-BAC2-6E0765E5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86050"/>
            <a:ext cx="23622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09F440-EFC7-4ABE-872D-B330883F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86050"/>
            <a:ext cx="2362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CD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5E5090-9D30-4B6C-9167-54AF67A0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861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2545"/>
                </a:solidFill>
              </a:defRPr>
            </a:pPr>
            <a:r>
              <a:rPr sz="1875" b="1">
                <a:solidFill>
                  <a:srgbClr val="0B2545"/>
                </a:solidFill>
              </a:rPr>
              <a:t>Revisar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5AA33B-19ED-49B6-A415-AEDA53DB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623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66170"/>
                </a:solidFill>
              </a:defRPr>
            </a:pPr>
            <a:r>
              <a:rPr sz="1200">
                <a:solidFill>
                  <a:srgbClr val="566170"/>
                </a:solidFill>
              </a:rPr>
              <a:t>Tabla de evaluación y enlace al archivo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A59C89-A118-425F-A00A-55A3AC64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287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1F7E2"/>
          </a:solidFill>
          <a:ln xmlns:a="http://schemas.openxmlformats.org/drawingml/2006/main" w="9525">
            <a:solidFill>
              <a:srgbClr val="D6E5A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82F47C-09B3-48B0-8A05-06CDD958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0"/>
            <a:ext cx="962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545"/>
                </a:solidFill>
              </a:defRPr>
            </a:pPr>
            <a:r>
              <a:rPr sz="1275" b="1">
                <a:solidFill>
                  <a:srgbClr val="0B2545"/>
                </a:solidFill>
              </a:rPr>
              <a:t>También incluye: validación de archivos · confirmación antes de eliminar · duplicar · ayuda integrada · atajo Ctrl/Cmd + K</a:t>
            </a:r>
          </a:p>
        </p:txBody>
      </p:sp>
    </p:spTree>
    <p:extLst>
      <p:ext uri="{BB962C8B-B14F-4D97-AF65-F5344CB8AC3E}">
        <p14:creationId xmlns:p14="http://schemas.microsoft.com/office/powerpoint/2010/main" val="18608862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6DF6BD-377E-4EDA-B3CD-06E035E2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170"/>
                </a:solidFill>
              </a:defRPr>
            </a:pPr>
            <a:r>
              <a:rPr sz="900" b="1">
                <a:solidFill>
                  <a:srgbClr val="566170"/>
                </a:solidFill>
              </a:rPr>
              <a:t>BITÁCORA DIGITAL · PROYECTO HCI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17F53D-E397-4AC9-9E07-738B9C3B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170"/>
                </a:solidFill>
              </a:defRPr>
            </a:pPr>
            <a:r>
              <a:rPr sz="900" b="1">
                <a:solidFill>
                  <a:srgbClr val="566170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B62AEE-85DD-4E6B-8972-FEB1C3D9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E74B5"/>
                </a:solidFill>
              </a:defRPr>
            </a:pPr>
            <a:r>
              <a:rPr sz="825" b="1">
                <a:solidFill>
                  <a:srgbClr val="2E74B5"/>
                </a:solidFill>
              </a:rPr>
              <a:t>DECISIONES HCI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63289-91A8-4B47-8C28-5E518608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334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La revisión heurística produce correcciones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73713-91DC-402A-BC3F-B31EF543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66170"/>
                </a:solidFill>
              </a:defRPr>
            </a:pPr>
            <a:r>
              <a:rPr sz="1500">
                <a:solidFill>
                  <a:srgbClr val="566170"/>
                </a:solidFill>
              </a:rPr>
              <a:t>La interfaz no solo se diseñó: se revisó contra errores previsibles.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64DC9-E76A-42CB-B0FB-E262A283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387C8-03F3-43B9-B7C6-8394A234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HEURÍSTICA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4E5C30-7784-43F6-85DB-847F67D0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479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DECISIÓN DE DISEÑO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900E13-4E93-4B9C-98CD-A74A2699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IMPACTO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8B5C96-FC8F-4F4C-A640-6F7DB7BB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AE4CE8-FE4E-47FE-A968-8699C0DB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Estado visible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AA2234-0271-4985-B49B-4B24B570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194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B2545"/>
                </a:solidFill>
              </a:defRPr>
            </a:pPr>
            <a:r>
              <a:rPr sz="1350">
                <a:solidFill>
                  <a:srgbClr val="0B2545"/>
                </a:solidFill>
              </a:rPr>
              <a:t>Toasts, conteos y fecha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998079-577C-4BA9-B155-333F2780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194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66170"/>
                </a:solidFill>
              </a:defRPr>
            </a:pPr>
            <a:r>
              <a:rPr sz="1275">
                <a:solidFill>
                  <a:srgbClr val="566170"/>
                </a:solidFill>
              </a:rPr>
              <a:t>El usuario sabe qué ocurrió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1143D-F797-4D75-A545-C6C583AF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5909A9-FB32-490C-B7FF-609F982E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Prevención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C65F0C-2D04-46B4-B5E9-C5E686CE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100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B2545"/>
                </a:solidFill>
              </a:defRPr>
            </a:pPr>
            <a:r>
              <a:rPr sz="1350">
                <a:solidFill>
                  <a:srgbClr val="0B2545"/>
                </a:solidFill>
              </a:rPr>
              <a:t>Validación + confirmación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E63FBE-AE2D-44B6-A35C-97705417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100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66170"/>
                </a:solidFill>
              </a:defRPr>
            </a:pPr>
            <a:r>
              <a:rPr sz="1275">
                <a:solidFill>
                  <a:srgbClr val="566170"/>
                </a:solidFill>
              </a:rPr>
              <a:t>Menos errores destructivos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267241-F362-4DD3-BF27-1A70D92C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18EF78-C914-4697-90B7-7BAD08C8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00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Consistencia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0CD586-9450-494E-8EAF-B8DD07D6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005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B2545"/>
                </a:solidFill>
              </a:defRPr>
            </a:pPr>
            <a:r>
              <a:rPr sz="1350">
                <a:solidFill>
                  <a:srgbClr val="0B2545"/>
                </a:solidFill>
              </a:rPr>
              <a:t>Categorías y lenguaje en español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CF334B-651F-4C66-A318-C7111E11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005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66170"/>
                </a:solidFill>
              </a:defRPr>
            </a:pPr>
            <a:r>
              <a:rPr sz="1275">
                <a:solidFill>
                  <a:srgbClr val="566170"/>
                </a:solidFill>
              </a:rPr>
              <a:t>Menos esfuerzo de interpretación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D9982E-6EB9-4957-B689-366F8306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1FE656-C9D6-4477-B55A-B7C4C4E0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911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Flexibilidad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189D98-AB84-4460-850F-7664D0F3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9911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B2545"/>
                </a:solidFill>
              </a:defRPr>
            </a:pPr>
            <a:r>
              <a:rPr sz="1350">
                <a:solidFill>
                  <a:srgbClr val="0B2545"/>
                </a:solidFill>
              </a:rPr>
              <a:t>Búsqueda, drag &amp; drop y atajo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35A87B-06BC-447B-8D67-F07337D8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911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66170"/>
                </a:solidFill>
              </a:defRPr>
            </a:pPr>
            <a:r>
              <a:rPr sz="1275">
                <a:solidFill>
                  <a:srgbClr val="566170"/>
                </a:solidFill>
              </a:rPr>
              <a:t>Más de una forma de completar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C3D0F8-5551-42AD-96FF-A74F0722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C3E78F-038F-4E7D-860C-82595985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Ayuda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D7B7BB-459A-457C-9AA3-A1688C19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581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B2545"/>
                </a:solidFill>
              </a:defRPr>
            </a:pPr>
            <a:r>
              <a:rPr sz="1350">
                <a:solidFill>
                  <a:srgbClr val="0B2545"/>
                </a:solidFill>
              </a:rPr>
              <a:t>Guía rápida integrada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8BE232-D61D-41AF-A6AB-6C653FE8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581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66170"/>
                </a:solidFill>
              </a:defRPr>
            </a:pPr>
            <a:r>
              <a:rPr sz="1275">
                <a:solidFill>
                  <a:srgbClr val="566170"/>
                </a:solidFill>
              </a:rPr>
              <a:t>Mejor primer uso</a:t>
            </a:r>
          </a:p>
        </p:txBody>
      </p:sp>
    </p:spTree>
    <p:extLst>
      <p:ext uri="{BB962C8B-B14F-4D97-AF65-F5344CB8AC3E}">
        <p14:creationId xmlns:p14="http://schemas.microsoft.com/office/powerpoint/2010/main" val="7811952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AD24B3-8C1E-4837-BF99-D6FCD95D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170"/>
                </a:solidFill>
              </a:defRPr>
            </a:pPr>
            <a:r>
              <a:rPr sz="900" b="1">
                <a:solidFill>
                  <a:srgbClr val="566170"/>
                </a:solidFill>
              </a:rPr>
              <a:t>BITÁCORA DIGITAL · PROYECTO HCI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53A75-C7C8-4B52-A710-D9DB6374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170"/>
                </a:solidFill>
              </a:defRPr>
            </a:pPr>
            <a:r>
              <a:rPr sz="900" b="1">
                <a:solidFill>
                  <a:srgbClr val="566170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2BAB1-C750-4D23-A95A-712A944B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E74B5"/>
                </a:solidFill>
              </a:defRPr>
            </a:pPr>
            <a:r>
              <a:rPr sz="825" b="1">
                <a:solidFill>
                  <a:srgbClr val="2E74B5"/>
                </a:solidFill>
              </a:rPr>
              <a:t>VALIDACIÓN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3FA6FF-E8B4-406C-B166-D932E10D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334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La prueba técnica confirma el flujo principal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369136-F425-49F0-A5AA-841B6F23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66170"/>
                </a:solidFill>
              </a:defRPr>
            </a:pPr>
            <a:r>
              <a:rPr sz="1500">
                <a:solidFill>
                  <a:srgbClr val="566170"/>
                </a:solidFill>
              </a:rPr>
              <a:t>La siguiente iteración debe comprobar si el flujo también resulta claro para personas reales.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9CF21-5585-4C72-AB00-D4A404AC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2171700" cy="14478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4EA7BF-EBC8-4C51-8758-5765A0FA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2E74B5"/>
                </a:solidFill>
              </a:defRPr>
            </a:pPr>
            <a:r>
              <a:rPr sz="3525" b="1">
                <a:solidFill>
                  <a:srgbClr val="2E74B5"/>
                </a:solidFill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C9D92D-1BAB-49AB-8998-12C00DB0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66170"/>
                </a:solidFill>
              </a:defRPr>
            </a:pPr>
            <a:r>
              <a:rPr sz="1200">
                <a:solidFill>
                  <a:srgbClr val="566170"/>
                </a:solidFill>
              </a:rPr>
              <a:t>recorridos automatizados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267DA1-0B29-44A6-985D-A2B1DE33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47950"/>
            <a:ext cx="2171700" cy="14478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7ACC6A-30F9-4894-8F01-D1EAB2A6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765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D9FF43"/>
                </a:solidFill>
              </a:defRPr>
            </a:pPr>
            <a:r>
              <a:rPr sz="3525" b="1">
                <a:solidFill>
                  <a:srgbClr val="D9FF43"/>
                </a:solidFill>
              </a:rPr>
              <a:t>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549CDD-88DD-4F88-A3CA-D126800D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623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66170"/>
                </a:solidFill>
              </a:defRPr>
            </a:pPr>
            <a:r>
              <a:rPr sz="1200">
                <a:solidFill>
                  <a:srgbClr val="566170"/>
                </a:solidFill>
              </a:rPr>
              <a:t>errores JavaScript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3EE27E-C456-48DC-956E-FEC27FD4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47950"/>
            <a:ext cx="2171700" cy="14478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09BC14-23BA-4589-8932-B06545DB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765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3D8DFF"/>
                </a:solidFill>
              </a:defRPr>
            </a:pPr>
            <a:r>
              <a:rPr sz="3525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812840-B355-4D98-941D-08CBFB2D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623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66170"/>
                </a:solidFill>
              </a:defRPr>
            </a:pPr>
            <a:r>
              <a:rPr sz="1200">
                <a:solidFill>
                  <a:srgbClr val="566170"/>
                </a:solidFill>
              </a:rPr>
              <a:t>categorías del curso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814E04-AD05-4AE8-9778-F8A3872B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47950"/>
            <a:ext cx="2171700" cy="14478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DE8277-4D57-4663-8194-BFE7E971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765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9B82FF"/>
                </a:solidFill>
              </a:defRPr>
            </a:pPr>
            <a:r>
              <a:rPr sz="3525" b="1">
                <a:solidFill>
                  <a:srgbClr val="9B82FF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40B092-D24F-4CB4-8835-CBE21334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623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66170"/>
                </a:solidFill>
              </a:defRPr>
            </a:pPr>
            <a:r>
              <a:rPr sz="1200">
                <a:solidFill>
                  <a:srgbClr val="566170"/>
                </a:solidFill>
              </a:rPr>
              <a:t>temas visuales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00C64F-D625-453B-9843-D87FDCE9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9906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1F7E2"/>
          </a:solidFill>
          <a:ln xmlns:a="http://schemas.openxmlformats.org/drawingml/2006/main" w="9525">
            <a:solidFill>
              <a:srgbClr val="D6E5A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D094A2-568C-40F7-8B63-B0794260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76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E74B5"/>
                </a:solidFill>
              </a:defRPr>
            </a:pPr>
            <a:r>
              <a:rPr sz="1275" b="1">
                <a:solidFill>
                  <a:srgbClr val="2E74B5"/>
                </a:solidFill>
              </a:rPr>
              <a:t>Pendiente académico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B70829-8584-4408-B2FB-5236050C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768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B2545"/>
                </a:solidFill>
              </a:defRPr>
            </a:pPr>
            <a:r>
              <a:rPr sz="1350">
                <a:solidFill>
                  <a:srgbClr val="0B2545"/>
                </a:solidFill>
              </a:rPr>
              <a:t>Aplicar el guion a 5 estudiantes, registrar tiempos y errores y actualizar los hallazgos.</a:t>
            </a:r>
          </a:p>
        </p:txBody>
      </p:sp>
    </p:spTree>
    <p:extLst>
      <p:ext uri="{BB962C8B-B14F-4D97-AF65-F5344CB8AC3E}">
        <p14:creationId xmlns:p14="http://schemas.microsoft.com/office/powerpoint/2010/main" val="7786851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25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C951B-9EA5-4978-86A5-121D0962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FF43"/>
                </a:solidFill>
              </a:defRPr>
            </a:pPr>
            <a:r>
              <a:rPr sz="1125" b="1">
                <a:solidFill>
                  <a:srgbClr val="D9FF43"/>
                </a:solidFill>
              </a:rPr>
              <a:t>CIERRE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97233F-230A-480E-A89B-40BC12FF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14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Una bitácora que se entiende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antes de explicarse.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02657-86B5-444D-B84B-259300AB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C9D1DC"/>
                </a:solidFill>
              </a:defRPr>
            </a:pPr>
            <a:r>
              <a:rPr sz="1725">
                <a:solidFill>
                  <a:srgbClr val="C9D1DC"/>
                </a:solidFill>
              </a:rPr>
              <a:t>La solución entrega un sistema funcional, evidencia del proceso y una siguiente iteración concreta: validar con estudiantes.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1938C-E7AA-4661-8ADC-4625B6BE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238125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F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BE62B-D610-4674-B4CF-A6C723B8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2410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2545"/>
                </a:solidFill>
              </a:defRPr>
            </a:pPr>
            <a:r>
              <a:rPr sz="1950" b="1">
                <a:solidFill>
                  <a:srgbClr val="0B2545"/>
                </a:solidFill>
              </a:rPr>
              <a:t>registrar</a:t>
            </a:r>
          </a:p>
          <a:p xmlns:a="http://schemas.openxmlformats.org/drawingml/2006/main">
            <a:pPr algn="ctr">
              <a:defRPr sz="1950" b="1">
                <a:solidFill>
                  <a:srgbClr val="0B2545"/>
                </a:solidFill>
              </a:defRPr>
            </a:pPr>
            <a:r>
              <a:rPr sz="1950" b="1">
                <a:solidFill>
                  <a:srgbClr val="0B2545"/>
                </a:solidFill>
              </a:rPr>
              <a:t>→ encontrar</a:t>
            </a:r>
          </a:p>
          <a:p xmlns:a="http://schemas.openxmlformats.org/drawingml/2006/main">
            <a:pPr algn="ctr">
              <a:defRPr sz="1950" b="1">
                <a:solidFill>
                  <a:srgbClr val="0B2545"/>
                </a:solidFill>
              </a:defRPr>
            </a:pPr>
            <a:r>
              <a:rPr sz="1950" b="1">
                <a:solidFill>
                  <a:srgbClr val="0B2545"/>
                </a:solidFill>
              </a:rPr>
              <a:t>→ revisar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E7B9C-0FB9-4826-B335-3D8D46CC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FF43"/>
                </a:solidFill>
              </a:defRPr>
            </a:pPr>
            <a:r>
              <a:rPr sz="1650" b="1">
                <a:solidFill>
                  <a:srgbClr val="D9FF43"/>
                </a:solidFill>
              </a:rPr>
              <a:t>Preguntas</a:t>
            </a:r>
          </a:p>
        </p:txBody>
      </p:sp>
    </p:spTree>
    <p:extLst>
      <p:ext uri="{BB962C8B-B14F-4D97-AF65-F5344CB8AC3E}">
        <p14:creationId xmlns:p14="http://schemas.microsoft.com/office/powerpoint/2010/main" val="4101796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2026-07-27T05:20:21.9530000Z</dcterms:created>
  <dcterms:modified xsi:type="dcterms:W3CDTF">2026-07-27T05:20:21.9530000Z</dcterms:modified>
</coreProperties>
</file>